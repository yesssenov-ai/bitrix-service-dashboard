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3" name="Shape 1"/>
          <p:cNvSpPr/>
          <p:nvPr/>
        </p:nvSpPr>
        <p:spPr>
          <a:xfrm>
            <a:off x="7086600" y="0"/>
            <a:ext cx="5105095" cy="6858000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Lab </a:t>
            </a:r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322576" y="493776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6" name="Shape 4"/>
          <p:cNvSpPr/>
          <p:nvPr/>
        </p:nvSpPr>
        <p:spPr>
          <a:xfrm>
            <a:off x="2377440" y="576072"/>
            <a:ext cx="32004" cy="15544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7" name="Shape 5"/>
          <p:cNvSpPr/>
          <p:nvPr/>
        </p:nvSpPr>
        <p:spPr>
          <a:xfrm>
            <a:off x="2432304" y="493776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8" name="Shape 6"/>
          <p:cNvSpPr/>
          <p:nvPr/>
        </p:nvSpPr>
        <p:spPr>
          <a:xfrm>
            <a:off x="2487168" y="621792"/>
            <a:ext cx="32004" cy="10972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768096"/>
            <a:ext cx="1828800" cy="27432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1554480"/>
            <a:ext cx="6035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LIMS ДЛЯ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ТРЕНИНГ-ЦЕНТРА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PROLABSUPPORT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88620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Собственная лабораторная система контроля: этапы внедрения, сроки, трудозатраты и ресурсы для запуска.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5029200"/>
            <a:ext cx="5760720" cy="777240"/>
          </a:xfrm>
          <a:prstGeom prst="roundRect">
            <a:avLst>
              <a:gd name="adj" fmla="val 9412"/>
            </a:avLst>
          </a:prstGeom>
          <a:solidFill>
            <a:srgbClr val="E428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50292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внедрения — своими силами, на стеке ЦУП (Node + Postgres)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52560" y="1554480"/>
            <a:ext cx="118872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308592" y="2011680"/>
            <a:ext cx="118872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564624" y="1737360"/>
            <a:ext cx="118872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820656" y="2240280"/>
            <a:ext cx="11887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76688" y="1554480"/>
            <a:ext cx="118872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332720" y="2057400"/>
            <a:ext cx="118872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86600" y="3063240"/>
            <a:ext cx="5105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ProLabSupport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611880"/>
            <a:ext cx="5105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C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LIMS · ТРЕНИНГ-ЦЕНТР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347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Lab </a:t>
            </a:r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02568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457432" y="466344"/>
            <a:ext cx="32004" cy="15544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512296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6" name="Shape 4"/>
          <p:cNvSpPr/>
          <p:nvPr/>
        </p:nvSpPr>
        <p:spPr>
          <a:xfrm>
            <a:off x="11567160" y="512064"/>
            <a:ext cx="32004" cy="10972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LIMS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749808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в ТЦ ведётся вручную, а данные</a:t>
            </a:r>
            <a:endParaRPr lang="en-US" sz="31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приборов не связаны между собой</a:t>
            </a:r>
            <a:endParaRPr lang="en-US" sz="3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7452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проблемы мешают вести пробы, результаты и качество как единую систему: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2514600"/>
            <a:ext cx="2624328" cy="2331720"/>
          </a:xfrm>
          <a:prstGeom prst="roundRect">
            <a:avLst>
              <a:gd name="adj" fmla="val 3922"/>
            </a:avLst>
          </a:prstGeom>
          <a:solidFill>
            <a:srgbClr val="FBEAE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770632"/>
            <a:ext cx="384048" cy="384048"/>
          </a:xfrm>
          <a:prstGeom prst="ellipse">
            <a:avLst/>
          </a:prstGeom>
          <a:solidFill>
            <a:srgbClr val="E428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291840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Разрозненные данные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931920"/>
            <a:ext cx="21671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живут в софте приборов и файлах — единой истории пробы нет.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92424" y="2514600"/>
            <a:ext cx="2624328" cy="2331720"/>
          </a:xfrm>
          <a:prstGeom prst="roundRect">
            <a:avLst>
              <a:gd name="adj" fmla="val 3922"/>
            </a:avLst>
          </a:prstGeom>
          <a:solidFill>
            <a:srgbClr val="F1F2F4"/>
          </a:solidFill>
          <a:ln/>
        </p:spPr>
      </p:sp>
      <p:sp>
        <p:nvSpPr>
          <p:cNvPr id="16" name="Shape 14"/>
          <p:cNvSpPr/>
          <p:nvPr/>
        </p:nvSpPr>
        <p:spPr>
          <a:xfrm>
            <a:off x="3648456" y="2770632"/>
            <a:ext cx="384048" cy="384048"/>
          </a:xfrm>
          <a:prstGeom prst="ellipse">
            <a:avLst/>
          </a:prstGeom>
          <a:solidFill>
            <a:srgbClr val="E428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48456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648456" y="3291840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Ручной контроль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648456" y="3931920"/>
            <a:ext cx="21671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Журналы в Excel и на бумаге — легко потерять и трудно найти.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2514600"/>
            <a:ext cx="2624328" cy="2331720"/>
          </a:xfrm>
          <a:prstGeom prst="roundRect">
            <a:avLst>
              <a:gd name="adj" fmla="val 3922"/>
            </a:avLst>
          </a:prstGeom>
          <a:solidFill>
            <a:srgbClr val="FBEA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473952" y="2770632"/>
            <a:ext cx="384048" cy="384048"/>
          </a:xfrm>
          <a:prstGeom prst="ellipse">
            <a:avLst/>
          </a:prstGeom>
          <a:solidFill>
            <a:srgbClr val="E428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73952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3291840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прослеживаемости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3931920"/>
            <a:ext cx="21671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Кто, когда, на каком приборе и с каким реактивом — не собрано вместе.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43416" y="2514600"/>
            <a:ext cx="2624328" cy="2331720"/>
          </a:xfrm>
          <a:prstGeom prst="roundRect">
            <a:avLst>
              <a:gd name="adj" fmla="val 3922"/>
            </a:avLst>
          </a:prstGeom>
          <a:solidFill>
            <a:srgbClr val="F1F2F4"/>
          </a:solidFill>
          <a:ln/>
        </p:spPr>
      </p:sp>
      <p:sp>
        <p:nvSpPr>
          <p:cNvPr id="26" name="Shape 24"/>
          <p:cNvSpPr/>
          <p:nvPr/>
        </p:nvSpPr>
        <p:spPr>
          <a:xfrm>
            <a:off x="9299448" y="2770632"/>
            <a:ext cx="384048" cy="384048"/>
          </a:xfrm>
          <a:prstGeom prst="ellipse">
            <a:avLst/>
          </a:prstGeom>
          <a:solidFill>
            <a:srgbClr val="E4283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299448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299448" y="3291840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автоввода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299448" y="3931920"/>
            <a:ext cx="21671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не подтягиваются с приборов автоматически, всё вносится руками.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5212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572768" y="5138928"/>
            <a:ext cx="1005199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Нужна лёгкая LIMS для внутреннего контроля ТЦ — без аккредитации и валидации, но с единой историей пробы и автовводом с приборов.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347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Lab </a:t>
            </a:r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02568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457432" y="466344"/>
            <a:ext cx="32004" cy="15544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512296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6" name="Shape 4"/>
          <p:cNvSpPr/>
          <p:nvPr/>
        </p:nvSpPr>
        <p:spPr>
          <a:xfrm>
            <a:off x="11567160" y="512064"/>
            <a:ext cx="32004" cy="10972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749808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LIMS-lite: одна система на весь путь пробы —</a:t>
            </a:r>
            <a:endParaRPr lang="en-US" sz="31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регистрации до протокола</a:t>
            </a:r>
            <a:endParaRPr lang="en-US" sz="3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7452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Рабочее ядро взято из ТЗ НЦЭЛС (SampleManager), но без регуляторной тяжести.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256032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E428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2004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LIMS-lite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ТЦ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2976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история пробы, контроль качества и результатов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84448" y="2560320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FBEA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13048" y="256032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проб + штрихкод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584448" y="3227832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F1F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13048" y="322783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Автоввод результатов с приборов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584448" y="3895344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F1F2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813048" y="389534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и утверждение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584448" y="4562856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F1F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813048" y="456285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Протоколы и дашборды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882128" y="2560320"/>
            <a:ext cx="3742639" cy="2743200"/>
          </a:xfrm>
          <a:prstGeom prst="roundRect">
            <a:avLst>
              <a:gd name="adj" fmla="val 3333"/>
            </a:avLst>
          </a:prstGeom>
          <a:solidFill>
            <a:srgbClr val="F1F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56448" y="2834640"/>
            <a:ext cx="32854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ТЦ получает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156448" y="3337560"/>
            <a:ext cx="3239719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единую историю по каждой пробе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автоввод результатов приборов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сроков и поверок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протоколы и аудит «кто/когда»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5623560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E428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" y="5623560"/>
            <a:ext cx="1050919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IQ/OQ, ЭЦП и аккредитации — только рабочий контроль. Стек тот же, что у ЦУП.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347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Lab </a:t>
            </a:r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02568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457432" y="466344"/>
            <a:ext cx="32004" cy="15544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512296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6" name="Shape 4"/>
          <p:cNvSpPr/>
          <p:nvPr/>
        </p:nvSpPr>
        <p:spPr>
          <a:xfrm>
            <a:off x="11567160" y="512064"/>
            <a:ext cx="32004" cy="10972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ПАРК ПРИБОРОВ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снимаем через экспорт софта приборов — 14 приборов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3657600"/>
                <a:gridCol w="1545336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Прибор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Софт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Канал / выгрузка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Сложность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ИСП-ОЭС 5900 SVDV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ICP Expert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авто-экспорт CSV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лёгкая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ААС 240 FS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SpectrAA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экспорт CSV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лёгкая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МП-АЭС 4210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 Expert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экспорт CSV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лёгкая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РФА Epsilon 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Epsilon 4 (Malvern)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CSV / отчёт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лёгкая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ИХ 940 Prof. Vario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MagIC Net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встроенный LIMS-экспорт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лёгкая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Весы XA 220.3Y 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Radwag / RS-232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строка веса (serial)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лёгкая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Весы PS 2500 3Y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Radwag / RS-232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строка веса (serial)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лёгкая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914 pH / O₂ / конд.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 прибора / RS-232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одно значение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лёгкая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ИСП-МС 7900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ICP-MS MassHunter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batch-экспорт CSV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средняя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ГХ 8890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OpenLab CDS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шаблон отчёта → CSV/XML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средняя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ВЭЖХ 1260 Infinity III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OpenLab CDS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тот же парсер, что ГХ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средняя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Титратор Titrando 905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tiamo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экспорт CSV / отчёт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средняя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XRD Aeris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Aeris + HighScore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экспорт фаз / содержаний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сложнее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66928" y="6053328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E4283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41248" y="6053328"/>
            <a:ext cx="1050919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лёгких приборов — первыми, затем 4 средних (ИСП-МС, ГХ/ВЭЖХ, титратор) и XRD Aeris.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347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Lab </a:t>
            </a:r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02568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457432" y="466344"/>
            <a:ext cx="32004" cy="15544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512296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6" name="Shape 4"/>
          <p:cNvSpPr/>
          <p:nvPr/>
        </p:nvSpPr>
        <p:spPr>
          <a:xfrm>
            <a:off x="11567160" y="512064"/>
            <a:ext cx="32004" cy="10972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ЭТО РАБОТАЕТ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пробы связывает прибор и систему</a:t>
            </a:r>
            <a:endParaRPr lang="en-US" sz="3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73736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 один раз вписывает код пробы в софт прибора — дальше всё автоматически.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2697480"/>
            <a:ext cx="1975104" cy="2011680"/>
          </a:xfrm>
          <a:prstGeom prst="roundRect">
            <a:avLst>
              <a:gd name="adj" fmla="val 4630"/>
            </a:avLst>
          </a:prstGeom>
          <a:solidFill>
            <a:srgbClr val="F1F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880360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246120"/>
            <a:ext cx="1655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3749040"/>
            <a:ext cx="16550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Проба заводится в LIMS, печатается код TC-2026-…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523744" y="2697480"/>
            <a:ext cx="25603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798064" y="2697480"/>
            <a:ext cx="1975104" cy="2011680"/>
          </a:xfrm>
          <a:prstGeom prst="roundRect">
            <a:avLst>
              <a:gd name="adj" fmla="val 4630"/>
            </a:avLst>
          </a:prstGeom>
          <a:solidFill>
            <a:srgbClr val="F1F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980944" y="2880360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980944" y="3246120"/>
            <a:ext cx="1655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в прибор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2980944" y="3749040"/>
            <a:ext cx="16550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 вписывает/сканирует код в Sample Name.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697480"/>
            <a:ext cx="25603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029200" y="2697480"/>
            <a:ext cx="1975104" cy="2011680"/>
          </a:xfrm>
          <a:prstGeom prst="roundRect">
            <a:avLst>
              <a:gd name="adj" fmla="val 4630"/>
            </a:avLst>
          </a:prstGeom>
          <a:solidFill>
            <a:srgbClr val="F1F2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212080" y="2880360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3246120"/>
            <a:ext cx="1655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 в папку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3749040"/>
            <a:ext cx="16550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Софт прибора кладёт файл результата в «горячую папку».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86016" y="2697480"/>
            <a:ext cx="25603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260336" y="2697480"/>
            <a:ext cx="1975104" cy="2011680"/>
          </a:xfrm>
          <a:prstGeom prst="roundRect">
            <a:avLst>
              <a:gd name="adj" fmla="val 4630"/>
            </a:avLst>
          </a:prstGeom>
          <a:solidFill>
            <a:srgbClr val="F1F2F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43216" y="2880360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43216" y="3246120"/>
            <a:ext cx="1655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Агент-парсер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443216" y="3749040"/>
            <a:ext cx="16550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читает файл и разбирает по формату софта.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217152" y="2697480"/>
            <a:ext cx="25603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491472" y="2697480"/>
            <a:ext cx="1975104" cy="2011680"/>
          </a:xfrm>
          <a:prstGeom prst="roundRect">
            <a:avLst>
              <a:gd name="adj" fmla="val 4630"/>
            </a:avLst>
          </a:prstGeom>
          <a:solidFill>
            <a:srgbClr val="E4283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74352" y="2880360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674352" y="3246120"/>
            <a:ext cx="1655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в LIMS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9674352" y="3749040"/>
            <a:ext cx="16550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Привязка к пробе по коду, статус, история.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5257800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11131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41248" y="5257800"/>
            <a:ext cx="1050919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приборы не вмешиваемся: работаем с экспортом их штатного ПО. Модель как в LabStation — «папка → парсинг → импорт».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347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Lab </a:t>
            </a:r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02568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457432" y="466344"/>
            <a:ext cx="32004" cy="15544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512296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6" name="Shape 4"/>
          <p:cNvSpPr/>
          <p:nvPr/>
        </p:nvSpPr>
        <p:spPr>
          <a:xfrm>
            <a:off x="11567160" y="512064"/>
            <a:ext cx="32004" cy="10972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ИНФРАСТРУКТУРА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сеть и мини-ПК-сборщик — сервер не нужен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566928" y="1965960"/>
            <a:ext cx="3200400" cy="3017520"/>
          </a:xfrm>
          <a:prstGeom prst="roundRect">
            <a:avLst>
              <a:gd name="adj" fmla="val 3030"/>
            </a:avLst>
          </a:prstGeom>
          <a:solidFill>
            <a:srgbClr val="F1F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по сети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7889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приборные ПК и сборщик — в одной LAN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общая папка для экспорта результатов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единое время (NTP) для аудита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 только у сборщика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041648" y="1965960"/>
            <a:ext cx="3677260" cy="1389888"/>
          </a:xfrm>
          <a:prstGeom prst="roundRect">
            <a:avLst>
              <a:gd name="adj" fmla="val 6579"/>
            </a:avLst>
          </a:prstGeom>
          <a:solidFill>
            <a:srgbClr val="F1F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97680" y="2167128"/>
            <a:ext cx="32200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Облако (LIMS)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2569464"/>
            <a:ext cx="32200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Бэкенд и база — Railway + Supabase, как ЦУП. Веб-доступ из браузера.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47508" y="1965960"/>
            <a:ext cx="3677260" cy="1389888"/>
          </a:xfrm>
          <a:prstGeom prst="roundRect">
            <a:avLst>
              <a:gd name="adj" fmla="val 6579"/>
            </a:avLst>
          </a:prstGeom>
          <a:solidFill>
            <a:srgbClr val="F1F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03540" y="2167128"/>
            <a:ext cx="32200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Мини-ПК сборщик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03540" y="2569464"/>
            <a:ext cx="32200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Всегда включён, следит за папками, парсит и шлёт в облако.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041648" y="3584448"/>
            <a:ext cx="3677260" cy="1389888"/>
          </a:xfrm>
          <a:prstGeom prst="roundRect">
            <a:avLst>
              <a:gd name="adj" fmla="val 6579"/>
            </a:avLst>
          </a:prstGeom>
          <a:solidFill>
            <a:srgbClr val="F1F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297680" y="3785616"/>
            <a:ext cx="32200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Принтер + сканер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4187952"/>
            <a:ext cx="32200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Термопринтер этикеток и сканер штрихкодов для проб.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47508" y="3584448"/>
            <a:ext cx="3677260" cy="1389888"/>
          </a:xfrm>
          <a:prstGeom prst="roundRect">
            <a:avLst>
              <a:gd name="adj" fmla="val 6579"/>
            </a:avLst>
          </a:prstGeom>
          <a:solidFill>
            <a:srgbClr val="F1F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03540" y="3785616"/>
            <a:ext cx="32200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 ПО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03540" y="4187952"/>
            <a:ext cx="32200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выгрузки результатов в папку в софте приборов.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57800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E428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" y="5257800"/>
            <a:ext cx="1050919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Приборные ПК не трогаем — только указываем путь экспорта. Данные могут жить в облаке или локально.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347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Lab </a:t>
            </a:r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02568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457432" y="466344"/>
            <a:ext cx="32004" cy="15544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512296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6" name="Shape 4"/>
          <p:cNvSpPr/>
          <p:nvPr/>
        </p:nvSpPr>
        <p:spPr>
          <a:xfrm>
            <a:off x="11567160" y="512064"/>
            <a:ext cx="32004" cy="10972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 СИСТЕМЫ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Модули LIMS для тренинг-центра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566928" y="1965960"/>
            <a:ext cx="384048" cy="384048"/>
          </a:xfrm>
          <a:prstGeom prst="ellipse">
            <a:avLst/>
          </a:prstGeom>
          <a:solidFill>
            <a:srgbClr val="E428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1929384"/>
            <a:ext cx="470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проб + штрихкод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295144"/>
            <a:ext cx="470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коды, шаблоны, печать этикеток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70168" y="1965960"/>
            <a:ext cx="384048" cy="384048"/>
          </a:xfrm>
          <a:prstGeom prst="ellipse">
            <a:avLst/>
          </a:prstGeom>
          <a:solidFill>
            <a:srgbClr val="E428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7016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18808" y="1929384"/>
            <a:ext cx="470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Статусы и движение пробы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18808" y="2295144"/>
            <a:ext cx="470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жизненный цикл, подобразцы, инциденты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2990088"/>
            <a:ext cx="384048" cy="384048"/>
          </a:xfrm>
          <a:prstGeom prst="ellipse">
            <a:avLst/>
          </a:prstGeom>
          <a:solidFill>
            <a:srgbClr val="E428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2953512"/>
            <a:ext cx="470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и рабочие листы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319272"/>
            <a:ext cx="470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справочник аналитов, назначение, ворклисты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70168" y="2990088"/>
            <a:ext cx="384048" cy="384048"/>
          </a:xfrm>
          <a:prstGeom prst="ellipse">
            <a:avLst/>
          </a:prstGeom>
          <a:solidFill>
            <a:srgbClr val="E428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7016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18808" y="2953512"/>
            <a:ext cx="470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+ автоимпорт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18808" y="3319272"/>
            <a:ext cx="470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ручной ввод и парсеры приборов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4014216"/>
            <a:ext cx="384048" cy="384048"/>
          </a:xfrm>
          <a:prstGeom prst="ellipse">
            <a:avLst/>
          </a:prstGeom>
          <a:solidFill>
            <a:srgbClr val="E428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" y="3977640"/>
            <a:ext cx="470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Пределы и проверка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" y="4343400"/>
            <a:ext cx="470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спецификации, «пометить/запретить», утверждение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70168" y="4014216"/>
            <a:ext cx="384048" cy="384048"/>
          </a:xfrm>
          <a:prstGeom prst="ellipse">
            <a:avLst/>
          </a:prstGeom>
          <a:solidFill>
            <a:srgbClr val="E4283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70168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918808" y="3977640"/>
            <a:ext cx="470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Протоколы и отчёты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918808" y="4343400"/>
            <a:ext cx="470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аналитический лист, протокол, экспорт Excel/PDF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5038344"/>
            <a:ext cx="384048" cy="384048"/>
          </a:xfrm>
          <a:prstGeom prst="ellipse">
            <a:avLst/>
          </a:prstGeom>
          <a:solidFill>
            <a:srgbClr val="E4283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66928" y="5038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" y="5001768"/>
            <a:ext cx="470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Оборудование и реактивы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115568" y="5367528"/>
            <a:ext cx="470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поверка/калибровка, партии, остатки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70168" y="5038344"/>
            <a:ext cx="384048" cy="384048"/>
          </a:xfrm>
          <a:prstGeom prst="ellipse">
            <a:avLst/>
          </a:prstGeom>
          <a:solidFill>
            <a:srgbClr val="E4283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70168" y="5038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918808" y="5001768"/>
            <a:ext cx="470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Обучение/допуски + аудит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6918808" y="5367528"/>
            <a:ext cx="470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допуск к методу/прибору, полный аудит-трейл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66928" y="6035040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E4283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41248" y="6035040"/>
            <a:ext cx="1050919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«Обучение и допуски» — двойная польза: контроль качества и учёт обучения слушателей ТЦ.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347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Lab </a:t>
            </a:r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02568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457432" y="466344"/>
            <a:ext cx="32004" cy="15544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512296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6" name="Shape 4"/>
          <p:cNvSpPr/>
          <p:nvPr/>
        </p:nvSpPr>
        <p:spPr>
          <a:xfrm>
            <a:off x="11567160" y="512064"/>
            <a:ext cx="32004" cy="10972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 по четырём фазам</a:t>
            </a:r>
            <a:endParaRPr lang="en-US" sz="3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73736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фаза даёт рабочий результат. Начинаем с фундамента (MVP), приборы подключаем по одному.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2606040"/>
            <a:ext cx="2613584" cy="3108960"/>
          </a:xfrm>
          <a:prstGeom prst="roundRect">
            <a:avLst>
              <a:gd name="adj" fmla="val 3499"/>
            </a:avLst>
          </a:prstGeom>
          <a:solidFill>
            <a:srgbClr val="E428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6384" y="2862072"/>
            <a:ext cx="224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0 · MVP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3172968"/>
            <a:ext cx="2247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Фундамент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3749040"/>
            <a:ext cx="22112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+ штрихкод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статусы и движение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ручной ввод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протокол, роли, аудит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81680" y="2606040"/>
            <a:ext cx="2613584" cy="3108960"/>
          </a:xfrm>
          <a:prstGeom prst="roundRect">
            <a:avLst>
              <a:gd name="adj" fmla="val 3499"/>
            </a:avLst>
          </a:prstGeom>
          <a:solidFill>
            <a:srgbClr val="F1F2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01136" y="2862072"/>
            <a:ext cx="224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01136" y="3172968"/>
            <a:ext cx="2247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лёгких приборов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601136" y="3749040"/>
            <a:ext cx="22112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ИСП-ОЭС, ААС, МП-АЭС,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РФА, ИХ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весы (2) и pH-метр 914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пределы, уведомления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6432" y="2606040"/>
            <a:ext cx="2613584" cy="3108960"/>
          </a:xfrm>
          <a:prstGeom prst="roundRect">
            <a:avLst>
              <a:gd name="adj" fmla="val 3499"/>
            </a:avLst>
          </a:prstGeom>
          <a:solidFill>
            <a:srgbClr val="F1F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15888" y="2862072"/>
            <a:ext cx="224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15888" y="3172968"/>
            <a:ext cx="2247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Средние приборы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415888" y="3749040"/>
            <a:ext cx="22112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OpenLab: ГХ, ВЭЖХ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ИСП-МС 7900, титратор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оборудование, реактивы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11183" y="2606040"/>
            <a:ext cx="2613584" cy="3108960"/>
          </a:xfrm>
          <a:prstGeom prst="roundRect">
            <a:avLst>
              <a:gd name="adj" fmla="val 3499"/>
            </a:avLst>
          </a:prstGeom>
          <a:solidFill>
            <a:srgbClr val="F1F2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30639" y="2862072"/>
            <a:ext cx="224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230639" y="3172968"/>
            <a:ext cx="2247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XRD + качество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230639" y="3749040"/>
            <a:ext cx="22112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XRD Aeris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обучение/допуски, среда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дашборды, инциденты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347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Lab </a:t>
            </a:r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02568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457432" y="466344"/>
            <a:ext cx="32004" cy="15544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512296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6" name="Shape 4"/>
          <p:cNvSpPr/>
          <p:nvPr/>
        </p:nvSpPr>
        <p:spPr>
          <a:xfrm>
            <a:off x="11567160" y="512064"/>
            <a:ext cx="32004" cy="10972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СРОКИ · ОРИЕНТИР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Календарь ~5–5,5 месяца (работа своими силами)</a:t>
            </a:r>
            <a:endParaRPr lang="en-US" sz="3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73736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при разработке параллельно с ЦУП. MVP (Фаза 0) — примерно через месяц.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514600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0 · Фундамент (MVP)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84448" y="2560320"/>
            <a:ext cx="8040319" cy="365760"/>
          </a:xfrm>
          <a:prstGeom prst="roundRect">
            <a:avLst>
              <a:gd name="adj" fmla="val 15000"/>
            </a:avLst>
          </a:prstGeom>
          <a:solidFill>
            <a:srgbClr val="EEF0F2"/>
          </a:solidFill>
          <a:ln/>
        </p:spPr>
      </p:sp>
      <p:sp>
        <p:nvSpPr>
          <p:cNvPr id="12" name="Shape 10"/>
          <p:cNvSpPr/>
          <p:nvPr/>
        </p:nvSpPr>
        <p:spPr>
          <a:xfrm>
            <a:off x="3584448" y="2560320"/>
            <a:ext cx="1447257" cy="365760"/>
          </a:xfrm>
          <a:prstGeom prst="roundRect">
            <a:avLst>
              <a:gd name="adj" fmla="val 15000"/>
            </a:avLst>
          </a:prstGeom>
          <a:solidFill>
            <a:srgbClr val="E428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84448" y="2560320"/>
            <a:ext cx="14472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нед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081528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1 · 8 лёгких приборов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84448" y="3127248"/>
            <a:ext cx="8040319" cy="365760"/>
          </a:xfrm>
          <a:prstGeom prst="roundRect">
            <a:avLst>
              <a:gd name="adj" fmla="val 15000"/>
            </a:avLst>
          </a:prstGeom>
          <a:solidFill>
            <a:srgbClr val="EEF0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031705" y="3127248"/>
            <a:ext cx="2170886" cy="365760"/>
          </a:xfrm>
          <a:prstGeom prst="roundRect">
            <a:avLst>
              <a:gd name="adj" fmla="val 15000"/>
            </a:avLst>
          </a:prstGeom>
          <a:solidFill>
            <a:srgbClr val="E428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31705" y="3127248"/>
            <a:ext cx="21708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нед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648456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2 · Средние приборы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84448" y="3694176"/>
            <a:ext cx="8040319" cy="365760"/>
          </a:xfrm>
          <a:prstGeom prst="roundRect">
            <a:avLst>
              <a:gd name="adj" fmla="val 15000"/>
            </a:avLst>
          </a:prstGeom>
          <a:solidFill>
            <a:srgbClr val="EEF0F2"/>
          </a:solidFill>
          <a:ln/>
        </p:spPr>
      </p:sp>
      <p:sp>
        <p:nvSpPr>
          <p:cNvPr id="20" name="Shape 18"/>
          <p:cNvSpPr/>
          <p:nvPr/>
        </p:nvSpPr>
        <p:spPr>
          <a:xfrm>
            <a:off x="7202592" y="3694176"/>
            <a:ext cx="2572902" cy="365760"/>
          </a:xfrm>
          <a:prstGeom prst="roundRect">
            <a:avLst>
              <a:gd name="adj" fmla="val 15000"/>
            </a:avLst>
          </a:prstGeom>
          <a:solidFill>
            <a:srgbClr val="E428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02592" y="3694176"/>
            <a:ext cx="25729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нед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215384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3 · XRD + качество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84448" y="4261104"/>
            <a:ext cx="8040319" cy="365760"/>
          </a:xfrm>
          <a:prstGeom prst="roundRect">
            <a:avLst>
              <a:gd name="adj" fmla="val 15000"/>
            </a:avLst>
          </a:prstGeom>
          <a:solidFill>
            <a:srgbClr val="EEF0F2"/>
          </a:solidFill>
          <a:ln/>
        </p:spPr>
      </p:sp>
      <p:sp>
        <p:nvSpPr>
          <p:cNvPr id="24" name="Shape 22"/>
          <p:cNvSpPr/>
          <p:nvPr/>
        </p:nvSpPr>
        <p:spPr>
          <a:xfrm>
            <a:off x="9775494" y="4261104"/>
            <a:ext cx="1849273" cy="365760"/>
          </a:xfrm>
          <a:prstGeom prst="roundRect">
            <a:avLst>
              <a:gd name="adj" fmla="val 15000"/>
            </a:avLst>
          </a:prstGeom>
          <a:solidFill>
            <a:srgbClr val="F4A0A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775494" y="4261104"/>
            <a:ext cx="18492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D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нед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310128" y="478231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нед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918192" y="478231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526256" y="478231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134320" y="478231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742383" y="478231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350447" y="478231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5166360"/>
            <a:ext cx="5414620" cy="1234440"/>
          </a:xfrm>
          <a:prstGeom prst="roundRect">
            <a:avLst>
              <a:gd name="adj" fmla="val 7407"/>
            </a:avLst>
          </a:prstGeom>
          <a:solidFill>
            <a:srgbClr val="FBEAEC"/>
          </a:solidFill>
          <a:ln/>
        </p:spPr>
      </p:sp>
      <p:sp>
        <p:nvSpPr>
          <p:cNvPr id="33" name="Shape 31"/>
          <p:cNvSpPr/>
          <p:nvPr/>
        </p:nvSpPr>
        <p:spPr>
          <a:xfrm>
            <a:off x="6210148" y="5166360"/>
            <a:ext cx="5414620" cy="1234440"/>
          </a:xfrm>
          <a:prstGeom prst="roundRect">
            <a:avLst>
              <a:gd name="adj" fmla="val 7407"/>
            </a:avLst>
          </a:prstGeom>
          <a:solidFill>
            <a:srgbClr val="F1F2F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41248" y="5349240"/>
            <a:ext cx="49574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Контрольная точка — месяц 1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41248" y="5733288"/>
            <a:ext cx="49117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MVP: регистрация проб, штрихкоды, ручной ввод, протокол. Контроль можно вести сразу.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484468" y="5349240"/>
            <a:ext cx="49574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Контрольная точка — месяц 2–2,5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84468" y="5733288"/>
            <a:ext cx="49117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Автоввод с 8 лёгких приборов, пределы и уведомления.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347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Lab </a:t>
            </a:r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02568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457432" y="466344"/>
            <a:ext cx="32004" cy="15544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512296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6" name="Shape 4"/>
          <p:cNvSpPr/>
          <p:nvPr/>
        </p:nvSpPr>
        <p:spPr>
          <a:xfrm>
            <a:off x="11567160" y="512064"/>
            <a:ext cx="32004" cy="10972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ТРУДОЗАТРАТЫ · ОРИЕНТИР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трудозатрат по фазам</a:t>
            </a:r>
            <a:endParaRPr lang="en-US" sz="3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57839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572000"/>
                <a:gridCol w="246888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Фаза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делаем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Оценка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Кто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Фаза 0 · Фундамент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регистрация, штрихкод, статусы, ручной ввод, протокол, роли, аудит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~15–20 чел-дней · 4 нед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Фаза 1 · 8 лёгких приборов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парсеров (ИСП-ОЭС, ААС, МП-АЭС, РФА, ИХ, 2 весов, pH-метр), пределы, уведомления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~25–30 чел-дней · 6 нед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Фаза 2 · Средние приборы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OpenLab (ГХ/ВЭЖХ), MassHunter, tiamo; оборудование/поверка, реактивы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~25–35 чел-дней · 7 нед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ты + 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1F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Фаза 3 · XRD + качество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XRD Aeris, обучение/допуски, условия среды, дашборды, инциденты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~20–25 чел-дней · 5 нед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D4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66928" y="5897880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E4283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41248" y="5897880"/>
            <a:ext cx="1050919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 ~85–110 человеко-дней. MVP (Фаза 0) — около месяца. Главный ресурс — твоё время: разработка своими силами.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347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Lab </a:t>
            </a:r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02568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457432" y="466344"/>
            <a:ext cx="32004" cy="15544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512296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6" name="Shape 4"/>
          <p:cNvSpPr/>
          <p:nvPr/>
        </p:nvSpPr>
        <p:spPr>
          <a:xfrm>
            <a:off x="11567160" y="512064"/>
            <a:ext cx="32004" cy="10972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 ДЛЯ ЗАПУСКА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нужно, чтобы запуститься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566928" y="1920240"/>
            <a:ext cx="2624328" cy="2011680"/>
          </a:xfrm>
          <a:prstGeom prst="roundRect">
            <a:avLst>
              <a:gd name="adj" fmla="val 4545"/>
            </a:avLst>
          </a:prstGeom>
          <a:solidFill>
            <a:srgbClr val="F1F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176272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Железо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97480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Мини-ПК-сборщик (или имеющийся ПК), термопринтер этикеток, сканер штрихкодов.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92424" y="1920240"/>
            <a:ext cx="2624328" cy="2011680"/>
          </a:xfrm>
          <a:prstGeom prst="roundRect">
            <a:avLst>
              <a:gd name="adj" fmla="val 4545"/>
            </a:avLst>
          </a:prstGeom>
          <a:solidFill>
            <a:srgbClr val="F1F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48456" y="2176272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Хостинг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48456" y="2697480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(бэкенд) + Supabase (БД). Домен — по желанию.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624328" cy="2011680"/>
          </a:xfrm>
          <a:prstGeom prst="roundRect">
            <a:avLst>
              <a:gd name="adj" fmla="val 4545"/>
            </a:avLst>
          </a:prstGeom>
          <a:solidFill>
            <a:srgbClr val="F1F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73952" y="2176272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Настройки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2697480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 результатов в папку, общая папка, NTP, доступ к OpenLab.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43416" y="1920240"/>
            <a:ext cx="2624328" cy="2011680"/>
          </a:xfrm>
          <a:prstGeom prst="roundRect">
            <a:avLst>
              <a:gd name="adj" fmla="val 4545"/>
            </a:avLst>
          </a:prstGeom>
          <a:solidFill>
            <a:srgbClr val="F1F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99448" y="2176272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299448" y="2697480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одному файлу-экспорту с каждого прибора — под них пишутся парсеры.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4160520"/>
            <a:ext cx="5414620" cy="1737360"/>
          </a:xfrm>
          <a:prstGeom prst="roundRect">
            <a:avLst>
              <a:gd name="adj" fmla="val 5263"/>
            </a:avLst>
          </a:prstGeom>
          <a:solidFill>
            <a:srgbClr val="E42834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0148" y="4160520"/>
            <a:ext cx="5414620" cy="1737360"/>
          </a:xfrm>
          <a:prstGeom prst="roundRect">
            <a:avLst>
              <a:gd name="adj" fmla="val 5263"/>
            </a:avLst>
          </a:prstGeom>
          <a:solidFill>
            <a:srgbClr val="FBEAE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1248" y="4389120"/>
            <a:ext cx="49574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4846320"/>
            <a:ext cx="49117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— своими силами. Точечно: помощь IT/вендора по настройке экспорта OpenLab и владелец данных/бэкапов.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84468" y="4389120"/>
            <a:ext cx="49574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уже есть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484468" y="4846320"/>
            <a:ext cx="49117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Приборы и их ПО, парк, стек и опыт ЦУП, доступы в Bitrix/Supabase. Строим на готовом фундаменте.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347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Lab </a:t>
            </a:r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02568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457432" y="466344"/>
            <a:ext cx="32004" cy="15544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512296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6" name="Shape 4"/>
          <p:cNvSpPr/>
          <p:nvPr/>
        </p:nvSpPr>
        <p:spPr>
          <a:xfrm>
            <a:off x="11567160" y="512064"/>
            <a:ext cx="32004" cy="10972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· ОРИЕНТИР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Ориентировочный бюджет запуска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566928" y="1783080"/>
            <a:ext cx="11057839" cy="685800"/>
          </a:xfrm>
          <a:prstGeom prst="roundRect">
            <a:avLst>
              <a:gd name="adj" fmla="val 10667"/>
            </a:avLst>
          </a:prstGeom>
          <a:solidFill>
            <a:srgbClr val="E428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86968" y="178308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— своими силами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818327" y="178308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Прямые денежные затраты минимальны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2743200"/>
            <a:ext cx="3533546" cy="2103120"/>
          </a:xfrm>
          <a:prstGeom prst="roundRect">
            <a:avLst>
              <a:gd name="adj" fmla="val 4348"/>
            </a:avLst>
          </a:prstGeom>
          <a:solidFill>
            <a:srgbClr val="F1F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971800"/>
            <a:ext cx="30763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Разово · железо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520440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Мини-ПК-сборщик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776472"/>
            <a:ext cx="30763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150–250 тыс тг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142232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Принтер этикеток + сканер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398264"/>
            <a:ext cx="30763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120–200 тыс тг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29074" y="2743200"/>
            <a:ext cx="3533546" cy="2103120"/>
          </a:xfrm>
          <a:prstGeom prst="roundRect">
            <a:avLst>
              <a:gd name="adj" fmla="val 4348"/>
            </a:avLst>
          </a:prstGeom>
          <a:solidFill>
            <a:srgbClr val="F1F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85106" y="2971800"/>
            <a:ext cx="30763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Ежемесячно · хостинг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85106" y="3520440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+ Supabase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85106" y="3776472"/>
            <a:ext cx="30763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~10–25 тыс тг / мес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85106" y="4142232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Домен (опц.)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85106" y="4398264"/>
            <a:ext cx="30763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~5–8 тыс тг / год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91221" y="2743200"/>
            <a:ext cx="3533546" cy="2103120"/>
          </a:xfrm>
          <a:prstGeom prst="roundRect">
            <a:avLst>
              <a:gd name="adj" fmla="val 4348"/>
            </a:avLst>
          </a:prstGeom>
          <a:solidFill>
            <a:srgbClr val="F1F2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47253" y="2971800"/>
            <a:ext cx="30763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347253" y="3520440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Своими силами (вайб-кодинг)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347253" y="3776472"/>
            <a:ext cx="30763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тг прямых затрат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47253" y="4142232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 — время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347253" y="4398264"/>
            <a:ext cx="30763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~85–110 чел-дней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6928" y="5074920"/>
            <a:ext cx="11057839" cy="713232"/>
          </a:xfrm>
          <a:prstGeom prst="roundRect">
            <a:avLst>
              <a:gd name="adj" fmla="val 10256"/>
            </a:avLst>
          </a:prstGeom>
          <a:solidFill>
            <a:srgbClr val="11131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" y="5074920"/>
            <a:ext cx="341162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(железо): </a:t>
            </a:r>
            <a:pPr indent="0" marL="0">
              <a:buNone/>
            </a:pPr>
            <a:r>
              <a:rPr lang="en-US" sz="1400" b="1" dirty="0">
                <a:solidFill>
                  <a:srgbClr val="FF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~270–450 тыс тг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527194" y="5074920"/>
            <a:ext cx="341162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месяц: </a:t>
            </a:r>
            <a:pPr indent="0" marL="0">
              <a:buNone/>
            </a:pPr>
            <a:r>
              <a:rPr lang="en-US" sz="1400" b="1" dirty="0">
                <a:solidFill>
                  <a:srgbClr val="FF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~10–25 тыс тг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13141" y="5074920"/>
            <a:ext cx="341162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Разработка: </a:t>
            </a:r>
            <a:pPr indent="0" marL="0">
              <a:buNone/>
            </a:pPr>
            <a:r>
              <a:rPr lang="en-US" sz="1400" b="1" dirty="0">
                <a:solidFill>
                  <a:srgbClr val="FF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своими силами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594360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Цифры ориентировочные, для планирования; уточняются по факту закупки и тарифам.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347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Lab </a:t>
            </a:r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02568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457432" y="466344"/>
            <a:ext cx="32004" cy="15544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512296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6" name="Shape 4"/>
          <p:cNvSpPr/>
          <p:nvPr/>
        </p:nvSpPr>
        <p:spPr>
          <a:xfrm>
            <a:off x="11567160" y="512064"/>
            <a:ext cx="32004" cy="10972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 И ВАЖНОЕ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учесть заранее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566928" y="1965960"/>
            <a:ext cx="5414620" cy="1600200"/>
          </a:xfrm>
          <a:prstGeom prst="roundRect">
            <a:avLst>
              <a:gd name="adj" fmla="val 5714"/>
            </a:avLst>
          </a:prstGeom>
          <a:solidFill>
            <a:srgbClr val="FBEA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194560"/>
            <a:ext cx="49574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OpenLab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624328"/>
            <a:ext cx="49117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ПК приборов могут быть заблокированы. Решение — экспорт в папку; на старте допустим ручной экспорт аналитиком.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0148" y="1965960"/>
            <a:ext cx="5414620" cy="1600200"/>
          </a:xfrm>
          <a:prstGeom prst="roundRect">
            <a:avLst>
              <a:gd name="adj" fmla="val 5714"/>
            </a:avLst>
          </a:prstGeom>
          <a:solidFill>
            <a:srgbClr val="F1F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84468" y="2194560"/>
            <a:ext cx="49574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 и утверждение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84468" y="2624328"/>
            <a:ext cx="49117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1-го дня: журнал «кто/когда/что», запрет правки утверждённых результатов.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3794760"/>
            <a:ext cx="5414620" cy="1600200"/>
          </a:xfrm>
          <a:prstGeom prst="roundRect">
            <a:avLst>
              <a:gd name="adj" fmla="val 5714"/>
            </a:avLst>
          </a:prstGeom>
          <a:solidFill>
            <a:srgbClr val="F1F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4023360"/>
            <a:ext cx="49574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Бэкапы БД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4453128"/>
            <a:ext cx="49117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Ежедневный бэкап базы — обязательно, чтобы данные контроля не терялись.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0148" y="3794760"/>
            <a:ext cx="5414620" cy="1600200"/>
          </a:xfrm>
          <a:prstGeom prst="roundRect">
            <a:avLst>
              <a:gd name="adj" fmla="val 5714"/>
            </a:avLst>
          </a:prstGeom>
          <a:solidFill>
            <a:srgbClr val="FBEAE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4023360"/>
            <a:ext cx="49574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Bus-factor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84468" y="4453128"/>
            <a:ext cx="49117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Систему ведёт один человек — нужна документация парсеров и процессов.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5806440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E428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5806440"/>
            <a:ext cx="1050919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Форматы файлов приборов финализируем по реальным образцам экспорта — это снимает главный технический риск.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46920" y="347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Lab </a:t>
            </a:r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402568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4" name="Shape 2"/>
          <p:cNvSpPr/>
          <p:nvPr/>
        </p:nvSpPr>
        <p:spPr>
          <a:xfrm>
            <a:off x="11457432" y="466344"/>
            <a:ext cx="32004" cy="15544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5" name="Shape 3"/>
          <p:cNvSpPr/>
          <p:nvPr/>
        </p:nvSpPr>
        <p:spPr>
          <a:xfrm>
            <a:off x="11512296" y="384048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6" name="Shape 4"/>
          <p:cNvSpPr/>
          <p:nvPr/>
        </p:nvSpPr>
        <p:spPr>
          <a:xfrm>
            <a:off x="11567160" y="512064"/>
            <a:ext cx="32004" cy="10972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получит тренинг-центр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566928" y="1965960"/>
            <a:ext cx="3533546" cy="155448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221992"/>
            <a:ext cx="307634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880360"/>
            <a:ext cx="30763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история по каждой пробе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29074" y="1965960"/>
            <a:ext cx="3533546" cy="155448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03394" y="2221992"/>
            <a:ext cx="307634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4603394" y="2880360"/>
            <a:ext cx="30763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приборов на автоввод результатов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91221" y="1965960"/>
            <a:ext cx="3533546" cy="155448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5541" y="2221992"/>
            <a:ext cx="307634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8365541" y="2880360"/>
            <a:ext cx="30763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прослеживаемость: прибор, реактив, оператор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749040"/>
            <a:ext cx="3533546" cy="155448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" y="4005072"/>
            <a:ext cx="307634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клик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4663440"/>
            <a:ext cx="30763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формирование протокола испытаний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329074" y="3749040"/>
            <a:ext cx="3533546" cy="155448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03394" y="4005072"/>
            <a:ext cx="307634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800" dirty="0"/>
          </a:p>
        </p:txBody>
      </p:sp>
      <p:sp>
        <p:nvSpPr>
          <p:cNvPr id="23" name="Text 21"/>
          <p:cNvSpPr txBox="1"/>
          <p:nvPr/>
        </p:nvSpPr>
        <p:spPr>
          <a:xfrm>
            <a:off x="4603394" y="4663440"/>
            <a:ext cx="30763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потерянных результатов и журналов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091221" y="3749040"/>
            <a:ext cx="3533546" cy="155448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65541" y="4005072"/>
            <a:ext cx="307634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800" dirty="0"/>
          </a:p>
        </p:txBody>
      </p:sp>
      <p:sp>
        <p:nvSpPr>
          <p:cNvPr id="26" name="Text 24"/>
          <p:cNvSpPr txBox="1"/>
          <p:nvPr/>
        </p:nvSpPr>
        <p:spPr>
          <a:xfrm>
            <a:off x="8365541" y="4663440"/>
            <a:ext cx="30763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D4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учёт обучения и допусков слушателей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66928" y="5806440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11131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1248" y="5806440"/>
            <a:ext cx="1050919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ручного контроля — в единую систему: пробы, результаты, приборы и качество в одном месте.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Lab </a:t>
            </a:r>
            <a:pPr algn="l" indent="0" marL="0">
              <a:buNone/>
            </a:pPr>
            <a:r>
              <a:rPr lang="en-US" sz="1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322576" y="493776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4" name="Shape 2"/>
          <p:cNvSpPr/>
          <p:nvPr/>
        </p:nvSpPr>
        <p:spPr>
          <a:xfrm>
            <a:off x="2377440" y="576072"/>
            <a:ext cx="32004" cy="15544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5" name="Shape 3"/>
          <p:cNvSpPr/>
          <p:nvPr/>
        </p:nvSpPr>
        <p:spPr>
          <a:xfrm>
            <a:off x="2432304" y="493776"/>
            <a:ext cx="32004" cy="237744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6" name="Shape 4"/>
          <p:cNvSpPr/>
          <p:nvPr/>
        </p:nvSpPr>
        <p:spPr>
          <a:xfrm>
            <a:off x="2487168" y="621792"/>
            <a:ext cx="32004" cy="109728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768096"/>
            <a:ext cx="1828800" cy="27432"/>
          </a:xfrm>
          <a:prstGeom prst="rect">
            <a:avLst/>
          </a:prstGeom>
          <a:solidFill>
            <a:srgbClr val="E428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РЕШЕНИЯ, КОТОРЫЕ НУЖНО ПРИНЯТЬ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468880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Утвердить вариант А — LIMS-lite для ТЦ (без аккредитации)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0358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3035808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Начать с Фазы 0 — MVP примерно за месяц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60273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3602736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Выделить мини-ПК-сборщик, принтер этикеток и сканер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370168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27368" y="2468880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Дать доступ к экспорту приборного ПО (особенно OpenLab)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370168" y="30358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27368" y="3035808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Собрать по одному файлу-экспорту с каждого прибора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370168" y="360273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2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27368" y="3602736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Назначить владельца данных и ежедневных бэкапов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66928" y="4526280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E428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4526280"/>
            <a:ext cx="1050919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Приборы дают анализы. LIMS превращает их в управляемую систему контроля качества ТЦ.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ProLabSupport — ваш надёжный технологический партнёр лабораторий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2026-09-25T09:55:16Z</dcterms:created>
  <dcterms:modified xsi:type="dcterms:W3CDTF">2026-09-25T09:55:16Z</dcterms:modified>
</cp:coreProperties>
</file>